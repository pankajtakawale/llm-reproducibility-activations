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64" r:id="rId9"/>
    <p:sldId id="276" r:id="rId10"/>
    <p:sldId id="266" r:id="rId11"/>
    <p:sldId id="263" r:id="rId12"/>
    <p:sldId id="270" r:id="rId13"/>
    <p:sldId id="277" r:id="rId14"/>
    <p:sldId id="278" r:id="rId15"/>
    <p:sldId id="272" r:id="rId16"/>
    <p:sldId id="279" r:id="rId17"/>
    <p:sldId id="274" r:id="rId1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Segoe UI" panose="020B0502040204020203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E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313E12-8F47-B493-CC16-3944BD0F8B7A}" v="606" dt="2025-12-12T15:59:59.763"/>
    <p1510:client id="{79854291-13AC-5192-18B4-32037640B31F}" v="28" dt="2025-12-12T19:34:29.848"/>
    <p1510:client id="{8FD2006C-A84C-AA5E-0652-39573924AD7C}" v="302" dt="2025-12-12T07:05:51.881"/>
    <p1510:client id="{9BE52380-85AB-C72D-4544-957FEA53B386}" v="435" dt="2025-12-12T05:55:01.392"/>
    <p1510:client id="{A50A2273-1EBA-F030-AEDB-634580A702B0}" v="1" dt="2025-12-12T18:55:52.033"/>
    <p1510:client id="{AF732181-5B01-A960-CEC4-EA214A30EF33}" v="597" dt="2025-12-12T18:18:43.558"/>
    <p1510:client id="{BB0180D0-993F-2431-EC37-13795347B446}" v="18" dt="2025-12-12T17:13:47.673"/>
    <p1510:client id="{C50BC94B-1F5D-629A-6F30-EA8C24E95232}" v="354" dt="2025-12-11T06:52:45.037"/>
    <p1510:client id="{D1AB9BF0-054F-6992-B6D3-6FFBA9BD0F52}" v="140" dt="2025-12-12T06:19:28.089"/>
  </p1510:revLst>
</p1510:revInfo>
</file>

<file path=ppt/tableStyles.xml><?xml version="1.0" encoding="utf-8"?>
<a:tblStyleLst xmlns:a="http://schemas.openxmlformats.org/drawingml/2006/main" def="{E714B335-58CA-41DC-8997-3E60DC94C65D}">
  <a:tblStyle styleId="{E714B335-58CA-41DC-8997-3E60DC94C6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80e3f53667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80e3f53667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6b56176f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6b56176f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Without taking reproducibility into consideration, a model can be deployed in experimental stage, show favorable metrics, but then, when retrained to be deployed in production, produce unfavorable results. 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bb4b7adf7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bb4b7adf7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80e3f5366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80e3f5366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6e38d7b2d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6e38d7b2d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bb4b7adf7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bb4b7adf7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80e3f53667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80e3f53667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80e54b111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80e54b111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bb4b7adf7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bb4b7adf7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6e38d7b2d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6e38d7b2d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7155567fd0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7155567fd0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79950" y="112150"/>
            <a:ext cx="8913300" cy="4935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"/>
              <a:t> Activation Functions And Reproducibility of Language Models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An Exploration</a:t>
            </a:r>
            <a:endParaRPr i="1"/>
          </a:p>
        </p:txBody>
      </p:sp>
      <p:sp>
        <p:nvSpPr>
          <p:cNvPr id="57" name="Google Shape;57;p13"/>
          <p:cNvSpPr txBox="1"/>
          <p:nvPr/>
        </p:nvSpPr>
        <p:spPr>
          <a:xfrm>
            <a:off x="4755450" y="4124650"/>
            <a:ext cx="4237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" sz="1200" dirty="0"/>
              <a:t>Pankaj </a:t>
            </a:r>
            <a:r>
              <a:rPr lang="en" sz="1200" dirty="0" err="1"/>
              <a:t>Takawale</a:t>
            </a:r>
            <a:r>
              <a:rPr lang="en" sz="1200" dirty="0"/>
              <a:t> and Vinita </a:t>
            </a:r>
            <a:r>
              <a:rPr lang="en" sz="1200" dirty="0" err="1"/>
              <a:t>Takawale</a:t>
            </a:r>
            <a:endParaRPr sz="1200" dirty="0" err="1"/>
          </a:p>
          <a:p>
            <a:pPr algn="r"/>
            <a:r>
              <a:rPr lang="en" sz="1200" dirty="0">
                <a:highlight>
                  <a:srgbClr val="F2F2F2"/>
                </a:highlight>
              </a:rPr>
              <a:t>Introduction to LLM based Generative AI Systems</a:t>
            </a:r>
            <a:br>
              <a:rPr lang="en" sz="1200" dirty="0">
                <a:highlight>
                  <a:srgbClr val="F2F2F2"/>
                </a:highlight>
              </a:rPr>
            </a:br>
            <a:endParaRPr lang="en" sz="1800">
              <a:highlight>
                <a:srgbClr val="F2F2F2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/>
              <a:t>Fall 2025</a:t>
            </a:r>
            <a:endParaRPr sz="1200" b="1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" sz="1200" b="1" u="sng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79950" y="112150"/>
            <a:ext cx="8913300" cy="4935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Executive Summary</a:t>
            </a:r>
            <a:endParaRPr i="1"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090979" cy="38934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>
              <a:buClr>
                <a:srgbClr val="000000"/>
              </a:buClr>
            </a:pPr>
            <a:r>
              <a:rPr lang="en" b="1" dirty="0">
                <a:solidFill>
                  <a:schemeClr val="dk1"/>
                </a:solidFill>
              </a:rPr>
              <a:t>Objective:</a:t>
            </a:r>
            <a:endParaRPr lang="en-US" b="1" dirty="0">
              <a:solidFill>
                <a:schemeClr val="dk1"/>
              </a:solidFill>
            </a:endParaRPr>
          </a:p>
          <a:p>
            <a:pPr lvl="1">
              <a:lnSpc>
                <a:spcPct val="114999"/>
              </a:lnSpc>
              <a:buClr>
                <a:srgbClr val="000000"/>
              </a:buClr>
              <a:buSzPts val="1800"/>
            </a:pPr>
            <a:r>
              <a:rPr lang="en" sz="1800" dirty="0">
                <a:solidFill>
                  <a:schemeClr val="dk1"/>
                </a:solidFill>
              </a:rPr>
              <a:t>Investigate the relationship between </a:t>
            </a:r>
            <a:r>
              <a:rPr lang="en" sz="1800" b="1" dirty="0">
                <a:solidFill>
                  <a:schemeClr val="dk1"/>
                </a:solidFill>
              </a:rPr>
              <a:t>Reproducibility of Language Models</a:t>
            </a:r>
            <a:r>
              <a:rPr lang="en" sz="1800" dirty="0">
                <a:solidFill>
                  <a:schemeClr val="dk1"/>
                </a:solidFill>
              </a:rPr>
              <a:t> and </a:t>
            </a:r>
            <a:r>
              <a:rPr lang="en" sz="1800" b="1" dirty="0">
                <a:solidFill>
                  <a:schemeClr val="dk1"/>
                </a:solidFill>
              </a:rPr>
              <a:t>smooth</a:t>
            </a:r>
            <a:r>
              <a:rPr lang="en" sz="1800" dirty="0">
                <a:solidFill>
                  <a:schemeClr val="dk1"/>
                </a:solidFill>
              </a:rPr>
              <a:t> </a:t>
            </a:r>
            <a:r>
              <a:rPr lang="en" sz="1800" b="1" dirty="0">
                <a:solidFill>
                  <a:schemeClr val="dk1"/>
                </a:solidFill>
              </a:rPr>
              <a:t>activation functions</a:t>
            </a:r>
            <a:endParaRPr lang="en-US" sz="1800" b="1" dirty="0">
              <a:solidFill>
                <a:schemeClr val="dk1"/>
              </a:solidFill>
            </a:endParaRPr>
          </a:p>
          <a:p>
            <a:pPr lvl="1">
              <a:lnSpc>
                <a:spcPct val="114999"/>
              </a:lnSpc>
              <a:buClr>
                <a:schemeClr val="dk1"/>
              </a:buClr>
              <a:buSzPts val="1800"/>
            </a:pPr>
            <a:r>
              <a:rPr lang="en" sz="1900" dirty="0">
                <a:solidFill>
                  <a:schemeClr val="dk1"/>
                </a:solidFill>
              </a:rPr>
              <a:t>Build an </a:t>
            </a:r>
            <a:r>
              <a:rPr lang="en" sz="1900" b="1" dirty="0">
                <a:solidFill>
                  <a:schemeClr val="dk1"/>
                </a:solidFill>
              </a:rPr>
              <a:t>evaluation framework that </a:t>
            </a:r>
          </a:p>
          <a:p>
            <a:pPr marL="596900" lvl="1" indent="0">
              <a:lnSpc>
                <a:spcPct val="114999"/>
              </a:lnSpc>
              <a:buClr>
                <a:schemeClr val="dk1"/>
              </a:buClr>
              <a:buNone/>
            </a:pPr>
            <a:endParaRPr lang="en" sz="1900" b="1"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 b="1" dirty="0">
                <a:solidFill>
                  <a:schemeClr val="dk1"/>
                </a:solidFill>
              </a:rPr>
              <a:t>Motivation</a:t>
            </a:r>
          </a:p>
          <a:p>
            <a:pPr lvl="1">
              <a:lnSpc>
                <a:spcPct val="114999"/>
              </a:lnSpc>
              <a:buClr>
                <a:schemeClr val="dk1"/>
              </a:buClr>
              <a:buSzPts val="1800"/>
            </a:pPr>
            <a:r>
              <a:rPr lang="en" sz="1600" b="1" dirty="0">
                <a:solidFill>
                  <a:schemeClr val="dk1"/>
                </a:solidFill>
                <a:latin typeface="Segoe UI"/>
                <a:cs typeface="Segoe UI"/>
              </a:rPr>
              <a:t>Irreproducibility and uncertainty</a:t>
            </a:r>
            <a:r>
              <a:rPr lang="en" sz="1600" dirty="0">
                <a:solidFill>
                  <a:schemeClr val="dk1"/>
                </a:solidFill>
                <a:latin typeface="Segoe UI"/>
                <a:cs typeface="Segoe UI"/>
              </a:rPr>
              <a:t> make LM deployment challenging. </a:t>
            </a:r>
            <a:endParaRPr lang="en" sz="1600" dirty="0">
              <a:solidFill>
                <a:schemeClr val="dk1"/>
              </a:solidFill>
            </a:endParaRPr>
          </a:p>
          <a:p>
            <a:pPr lvl="1">
              <a:lnSpc>
                <a:spcPct val="114999"/>
              </a:lnSpc>
              <a:buClr>
                <a:schemeClr val="dk1"/>
              </a:buClr>
              <a:buSzPts val="1800"/>
            </a:pPr>
            <a:r>
              <a:rPr lang="en" sz="1600" dirty="0">
                <a:solidFill>
                  <a:schemeClr val="dk1"/>
                </a:solidFill>
                <a:latin typeface="Segoe UI"/>
                <a:cs typeface="Segoe UI"/>
              </a:rPr>
              <a:t>Can the choice of a smooth activation function improve reproducibility without sacrificing accuracy?</a:t>
            </a:r>
            <a:endParaRPr lang="en" sz="1600" dirty="0">
              <a:solidFill>
                <a:schemeClr val="dk1"/>
              </a:solidFill>
            </a:endParaRPr>
          </a:p>
          <a:p>
            <a:pPr>
              <a:lnSpc>
                <a:spcPct val="114999"/>
              </a:lnSpc>
              <a:buClr>
                <a:srgbClr val="595959"/>
              </a:buClr>
            </a:pPr>
            <a:endParaRPr lang="en" sz="1100">
              <a:solidFill>
                <a:schemeClr val="dk1"/>
              </a:solidFill>
            </a:endParaRPr>
          </a:p>
          <a:p>
            <a:pPr lvl="1">
              <a:lnSpc>
                <a:spcPct val="114999"/>
              </a:lnSpc>
              <a:buClr>
                <a:srgbClr val="595959"/>
              </a:buClr>
              <a:buSzPts val="1800"/>
            </a:pPr>
            <a:endParaRPr lang="en" sz="1600">
              <a:solidFill>
                <a:schemeClr val="dk1"/>
              </a:solidFill>
              <a:latin typeface="Segoe UI"/>
              <a:cs typeface="Segoe UI"/>
            </a:endParaRPr>
          </a:p>
          <a:p>
            <a:pPr lvl="1">
              <a:lnSpc>
                <a:spcPct val="114999"/>
              </a:lnSpc>
              <a:buClr>
                <a:schemeClr val="dk1"/>
              </a:buClr>
              <a:buSzPts val="1800"/>
            </a:pPr>
            <a:endParaRPr lang="en" sz="1600">
              <a:solidFill>
                <a:schemeClr val="dk1"/>
              </a:solidFill>
              <a:latin typeface="Segoe UI"/>
              <a:cs typeface="Segoe UI"/>
            </a:endParaRPr>
          </a:p>
          <a:p>
            <a:pPr lvl="1">
              <a:lnSpc>
                <a:spcPct val="114999"/>
              </a:lnSpc>
              <a:buClr>
                <a:schemeClr val="dk1"/>
              </a:buClr>
              <a:buSzPts val="1800"/>
            </a:pPr>
            <a:endParaRPr lang="en" sz="1800">
              <a:solidFill>
                <a:schemeClr val="dk1"/>
              </a:solidFill>
            </a:endParaRPr>
          </a:p>
        </p:txBody>
      </p:sp>
      <p:sp>
        <p:nvSpPr>
          <p:cNvPr id="4" name="Google Shape;64;p14">
            <a:extLst>
              <a:ext uri="{FF2B5EF4-FFF2-40B4-BE49-F238E27FC236}">
                <a16:creationId xmlns:a16="http://schemas.microsoft.com/office/drawing/2014/main" id="{D449C07C-8BFD-82BC-35C4-B465DFC78902}"/>
              </a:ext>
            </a:extLst>
          </p:cNvPr>
          <p:cNvSpPr txBox="1">
            <a:spLocks/>
          </p:cNvSpPr>
          <p:nvPr/>
        </p:nvSpPr>
        <p:spPr>
          <a:xfrm>
            <a:off x="4494288" y="1015414"/>
            <a:ext cx="4495482" cy="388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  <a:buClr>
                <a:srgbClr val="595959"/>
              </a:buClr>
            </a:pPr>
            <a:r>
              <a:rPr lang="en" sz="1600" b="1" dirty="0">
                <a:solidFill>
                  <a:schemeClr val="dk1"/>
                </a:solidFill>
              </a:rPr>
              <a:t>Research Approach:</a:t>
            </a:r>
            <a:endParaRPr lang="en" sz="1600">
              <a:solidFill>
                <a:schemeClr val="dk1"/>
              </a:solidFill>
            </a:endParaRPr>
          </a:p>
          <a:p>
            <a:pPr lvl="1">
              <a:lnSpc>
                <a:spcPct val="114999"/>
              </a:lnSpc>
              <a:buClr>
                <a:srgbClr val="595959"/>
              </a:buClr>
              <a:buSzPts val="1800"/>
            </a:pPr>
            <a:r>
              <a:rPr lang="en" sz="1600" dirty="0">
                <a:solidFill>
                  <a:schemeClr val="dk1"/>
                </a:solidFill>
              </a:rPr>
              <a:t>We conduct </a:t>
            </a:r>
            <a:r>
              <a:rPr lang="en" sz="1600" b="1" dirty="0">
                <a:solidFill>
                  <a:schemeClr val="dk1"/>
                </a:solidFill>
              </a:rPr>
              <a:t>a range of experiments</a:t>
            </a:r>
            <a:r>
              <a:rPr lang="en" sz="1600" dirty="0">
                <a:solidFill>
                  <a:schemeClr val="dk1"/>
                </a:solidFill>
              </a:rPr>
              <a:t> to </a:t>
            </a:r>
            <a:r>
              <a:rPr lang="en" sz="1600" b="1" dirty="0">
                <a:solidFill>
                  <a:schemeClr val="dk1"/>
                </a:solidFill>
              </a:rPr>
              <a:t>empirically understand</a:t>
            </a:r>
            <a:r>
              <a:rPr lang="en" sz="1600" dirty="0">
                <a:solidFill>
                  <a:schemeClr val="dk1"/>
                </a:solidFill>
              </a:rPr>
              <a:t> if the choice of activation functions can lead to a more reproducible model.</a:t>
            </a:r>
          </a:p>
          <a:p>
            <a:pPr>
              <a:lnSpc>
                <a:spcPct val="114999"/>
              </a:lnSpc>
              <a:buClr>
                <a:srgbClr val="595959"/>
              </a:buClr>
            </a:pPr>
            <a:endParaRPr lang="en" sz="1600">
              <a:solidFill>
                <a:schemeClr val="dk1"/>
              </a:solidFill>
            </a:endParaRPr>
          </a:p>
          <a:p>
            <a:pPr>
              <a:lnSpc>
                <a:spcPct val="114999"/>
              </a:lnSpc>
              <a:buClr>
                <a:srgbClr val="595959"/>
              </a:buClr>
            </a:pPr>
            <a:r>
              <a:rPr lang="en" sz="1600" b="1" dirty="0">
                <a:solidFill>
                  <a:schemeClr val="dk1"/>
                </a:solidFill>
              </a:rPr>
              <a:t>Key Finding</a:t>
            </a:r>
            <a:endParaRPr lang="en" sz="1600">
              <a:solidFill>
                <a:schemeClr val="dk1"/>
              </a:solidFill>
            </a:endParaRPr>
          </a:p>
          <a:p>
            <a:pPr lvl="1">
              <a:lnSpc>
                <a:spcPct val="114999"/>
              </a:lnSpc>
              <a:buClr>
                <a:srgbClr val="595959"/>
              </a:buClr>
              <a:buSzPts val="1800"/>
            </a:pPr>
            <a:r>
              <a:rPr lang="en" sz="1600" b="1" dirty="0">
                <a:solidFill>
                  <a:schemeClr val="dk1"/>
                </a:solidFill>
                <a:latin typeface="Segoe UI"/>
                <a:cs typeface="Segoe UI"/>
              </a:rPr>
              <a:t>Smooth activation functions</a:t>
            </a:r>
            <a:r>
              <a:rPr lang="en" sz="1600" dirty="0">
                <a:solidFill>
                  <a:schemeClr val="dk1"/>
                </a:solidFill>
                <a:latin typeface="Segoe UI"/>
                <a:cs typeface="Segoe UI"/>
              </a:rPr>
              <a:t> demonstrates superior reproducibility, </a:t>
            </a:r>
            <a:r>
              <a:rPr lang="en" sz="1600" b="1" dirty="0" err="1">
                <a:solidFill>
                  <a:schemeClr val="dk1"/>
                </a:solidFill>
                <a:latin typeface="Segoe UI"/>
                <a:cs typeface="Segoe UI"/>
              </a:rPr>
              <a:t>SwigLU</a:t>
            </a:r>
            <a:r>
              <a:rPr lang="en" sz="1600" b="1" dirty="0">
                <a:solidFill>
                  <a:schemeClr val="dk1"/>
                </a:solidFill>
                <a:latin typeface="Segoe UI"/>
                <a:cs typeface="Segoe UI"/>
              </a:rPr>
              <a:t> </a:t>
            </a:r>
            <a:r>
              <a:rPr lang="en" sz="1600" dirty="0">
                <a:solidFill>
                  <a:schemeClr val="dk1"/>
                </a:solidFill>
                <a:latin typeface="Segoe UI"/>
                <a:cs typeface="Segoe UI"/>
              </a:rPr>
              <a:t>achieved the best Reproducibility.</a:t>
            </a:r>
          </a:p>
          <a:p>
            <a:pPr lvl="1">
              <a:lnSpc>
                <a:spcPct val="114999"/>
              </a:lnSpc>
              <a:buClr>
                <a:srgbClr val="595959"/>
              </a:buClr>
              <a:buSzPts val="1800"/>
            </a:pPr>
            <a:r>
              <a:rPr lang="en" sz="1600" b="1" dirty="0">
                <a:solidFill>
                  <a:schemeClr val="dk1"/>
                </a:solidFill>
                <a:latin typeface="Segoe UI"/>
                <a:cs typeface="Segoe UI"/>
              </a:rPr>
              <a:t>Tradeoff</a:t>
            </a:r>
            <a:r>
              <a:rPr lang="en" sz="1600" dirty="0">
                <a:solidFill>
                  <a:schemeClr val="dk1"/>
                </a:solidFill>
                <a:latin typeface="Segoe UI"/>
                <a:cs typeface="Segoe UI"/>
              </a:rPr>
              <a:t> - ~1.2% accuracy cost.</a:t>
            </a:r>
          </a:p>
          <a:p>
            <a:pPr>
              <a:lnSpc>
                <a:spcPct val="114999"/>
              </a:lnSpc>
              <a:buClr>
                <a:srgbClr val="000000"/>
              </a:buClr>
              <a:buSzPts val="1800"/>
            </a:pPr>
            <a:endParaRPr lang="en-US" b="1">
              <a:solidFill>
                <a:schemeClr val="dk1"/>
              </a:solidFill>
            </a:endParaRPr>
          </a:p>
          <a:p>
            <a:pPr lvl="1">
              <a:lnSpc>
                <a:spcPct val="114999"/>
              </a:lnSpc>
              <a:buClr>
                <a:srgbClr val="595959"/>
              </a:buClr>
              <a:buSzPts val="1800"/>
            </a:pPr>
            <a:endParaRPr lang="en-US" sz="1100">
              <a:solidFill>
                <a:schemeClr val="dk1"/>
              </a:solidFill>
            </a:endParaRPr>
          </a:p>
          <a:p>
            <a:pPr lvl="1">
              <a:lnSpc>
                <a:spcPct val="114999"/>
              </a:lnSpc>
              <a:buClr>
                <a:srgbClr val="595959"/>
              </a:buClr>
              <a:buSzPts val="1800"/>
            </a:pPr>
            <a:endParaRPr lang="en-US" sz="1600">
              <a:solidFill>
                <a:schemeClr val="dk1"/>
              </a:solidFill>
              <a:latin typeface="Segoe UI"/>
              <a:cs typeface="Segoe UI"/>
            </a:endParaRPr>
          </a:p>
          <a:p>
            <a:pPr lvl="1">
              <a:lnSpc>
                <a:spcPct val="114999"/>
              </a:lnSpc>
              <a:buClr>
                <a:schemeClr val="dk1"/>
              </a:buClr>
              <a:buSzPts val="1800"/>
            </a:pPr>
            <a:endParaRPr lang="en-US" sz="1600">
              <a:solidFill>
                <a:schemeClr val="dk1"/>
              </a:solidFill>
              <a:latin typeface="Segoe UI"/>
              <a:cs typeface="Segoe UI"/>
            </a:endParaRPr>
          </a:p>
          <a:p>
            <a:pPr lvl="1">
              <a:lnSpc>
                <a:spcPct val="114999"/>
              </a:lnSpc>
              <a:buClr>
                <a:schemeClr val="dk1"/>
              </a:buClr>
              <a:buSzPts val="1800"/>
            </a:pPr>
            <a:endParaRPr lang="en-US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79950" y="112150"/>
            <a:ext cx="8913300" cy="4935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b="1">
                <a:solidFill>
                  <a:schemeClr val="dk1"/>
                </a:solidFill>
              </a:rPr>
              <a:t>Models with the same</a:t>
            </a:r>
            <a:r>
              <a:rPr lang="en">
                <a:solidFill>
                  <a:schemeClr val="dk1"/>
                </a:solidFill>
              </a:rPr>
              <a:t> hyperparameters, architecture, training data and hardware can have very </a:t>
            </a:r>
            <a:r>
              <a:rPr lang="en" b="1">
                <a:solidFill>
                  <a:schemeClr val="dk1"/>
                </a:solidFill>
              </a:rPr>
              <a:t>high prediction differences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Reproducibility is a task made difficult by </a:t>
            </a:r>
            <a:r>
              <a:rPr lang="en" b="1">
                <a:solidFill>
                  <a:schemeClr val="dk1"/>
                </a:solidFill>
              </a:rPr>
              <a:t>randomized algorithms</a:t>
            </a:r>
            <a:r>
              <a:rPr lang="en">
                <a:solidFill>
                  <a:schemeClr val="dk1"/>
                </a:solidFill>
              </a:rPr>
              <a:t>, non-determinism inherent in </a:t>
            </a:r>
            <a:r>
              <a:rPr lang="en" b="1">
                <a:solidFill>
                  <a:schemeClr val="dk1"/>
                </a:solidFill>
              </a:rPr>
              <a:t>parallel learning</a:t>
            </a:r>
            <a:r>
              <a:rPr lang="en">
                <a:solidFill>
                  <a:schemeClr val="dk1"/>
                </a:solidFill>
              </a:rPr>
              <a:t>, reliance on </a:t>
            </a:r>
            <a:r>
              <a:rPr lang="en" b="1">
                <a:solidFill>
                  <a:schemeClr val="dk1"/>
                </a:solidFill>
              </a:rPr>
              <a:t>initial conditions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lang="en" b="1">
                <a:solidFill>
                  <a:schemeClr val="dk1"/>
                </a:solidFill>
              </a:rPr>
              <a:t>interactions with the external world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This leads to </a:t>
            </a:r>
            <a:r>
              <a:rPr lang="en" b="1">
                <a:solidFill>
                  <a:schemeClr val="dk1"/>
                </a:solidFill>
              </a:rPr>
              <a:t>uncertainty in online behavior </a:t>
            </a:r>
            <a:r>
              <a:rPr lang="en">
                <a:solidFill>
                  <a:schemeClr val="dk1"/>
                </a:solidFill>
              </a:rPr>
              <a:t>of models and </a:t>
            </a:r>
            <a:r>
              <a:rPr lang="en" b="1">
                <a:solidFill>
                  <a:schemeClr val="dk1"/>
                </a:solidFill>
              </a:rPr>
              <a:t>difficult ML Workflows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Problem Motivation</a:t>
            </a:r>
            <a:endParaRPr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79950" y="112150"/>
            <a:ext cx="8913300" cy="4935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Past Work</a:t>
            </a:r>
            <a:endParaRPr sz="2000" i="1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831075"/>
            <a:ext cx="8520600" cy="19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i="1">
                <a:solidFill>
                  <a:schemeClr val="dk1"/>
                </a:solidFill>
              </a:rPr>
              <a:t>Does the </a:t>
            </a:r>
            <a:r>
              <a:rPr lang="en" sz="2100" b="1" i="1">
                <a:solidFill>
                  <a:schemeClr val="dk1"/>
                </a:solidFill>
              </a:rPr>
              <a:t>choice of activation functions </a:t>
            </a:r>
            <a:r>
              <a:rPr lang="en" sz="2100" i="1">
                <a:solidFill>
                  <a:schemeClr val="dk1"/>
                </a:solidFill>
              </a:rPr>
              <a:t>play a role in </a:t>
            </a:r>
            <a:r>
              <a:rPr lang="en" sz="2100" b="1" i="1">
                <a:solidFill>
                  <a:schemeClr val="dk1"/>
                </a:solidFill>
              </a:rPr>
              <a:t>robustness</a:t>
            </a:r>
            <a:r>
              <a:rPr lang="en" sz="2100" i="1">
                <a:solidFill>
                  <a:schemeClr val="dk1"/>
                </a:solidFill>
              </a:rPr>
              <a:t>, as measured in terms of </a:t>
            </a:r>
            <a:r>
              <a:rPr lang="en" sz="2100" b="1" i="1">
                <a:solidFill>
                  <a:schemeClr val="dk1"/>
                </a:solidFill>
              </a:rPr>
              <a:t>reproducibility</a:t>
            </a:r>
            <a:r>
              <a:rPr lang="en" sz="2100" i="1">
                <a:solidFill>
                  <a:schemeClr val="dk1"/>
                </a:solidFill>
              </a:rPr>
              <a:t>, of deep learning </a:t>
            </a:r>
            <a:r>
              <a:rPr lang="en" sz="2100" b="1" i="1">
                <a:solidFill>
                  <a:schemeClr val="dk1"/>
                </a:solidFill>
              </a:rPr>
              <a:t>models</a:t>
            </a:r>
            <a:r>
              <a:rPr lang="en" sz="2100" i="1">
                <a:solidFill>
                  <a:schemeClr val="dk1"/>
                </a:solidFill>
              </a:rPr>
              <a:t>?</a:t>
            </a:r>
            <a:endParaRPr sz="21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i="1">
                <a:solidFill>
                  <a:schemeClr val="dk1"/>
                </a:solidFill>
              </a:rPr>
              <a:t>“Smooth activations and reproducibility in deep networks” by Shamir et. al. </a:t>
            </a:r>
            <a:endParaRPr sz="1200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DA012-DE1B-CE98-086E-5730C67C5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Experimental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E78D5-89D6-FFB2-D493-4E7A9C623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130401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/>
              <a:t>Hardware</a:t>
            </a:r>
            <a:r>
              <a:rPr lang="en-US" sz="2400"/>
              <a:t>: </a:t>
            </a:r>
            <a:endParaRPr lang="en-US" sz="2400">
              <a:solidFill>
                <a:srgbClr val="000000"/>
              </a:solidFill>
            </a:endParaRPr>
          </a:p>
          <a:p>
            <a:pPr lvl="1">
              <a:lnSpc>
                <a:spcPct val="114999"/>
              </a:lnSpc>
              <a:buSzPts val="1800"/>
            </a:pPr>
            <a:r>
              <a:rPr lang="en-US" sz="1800" b="1"/>
              <a:t>NVIDIA DGX Spark</a:t>
            </a:r>
            <a:r>
              <a:rPr lang="en-US" sz="1800"/>
              <a:t> Server (ARM64, GB10 GPU)</a:t>
            </a:r>
            <a:endParaRPr lang="en-US" sz="1800">
              <a:solidFill>
                <a:srgbClr val="000000"/>
              </a:solidFill>
            </a:endParaRPr>
          </a:p>
          <a:p>
            <a:pPr lvl="1">
              <a:lnSpc>
                <a:spcPct val="114999"/>
              </a:lnSpc>
              <a:buSzPts val="1800"/>
            </a:pPr>
            <a:r>
              <a:rPr lang="en-US" sz="1800"/>
              <a:t>Apple M4 Pro – 14 Core CPU with 48 GB RAM</a:t>
            </a:r>
            <a:endParaRPr lang="en-US" sz="180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</a:pPr>
            <a:endParaRPr lang="en-US" sz="2400"/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endParaRPr lang="en-US" sz="2400"/>
          </a:p>
          <a:p>
            <a:pPr lvl="1">
              <a:lnSpc>
                <a:spcPct val="114999"/>
              </a:lnSpc>
            </a:pPr>
            <a:endParaRPr lang="en-US" sz="1800"/>
          </a:p>
          <a:p>
            <a:pPr lvl="1">
              <a:lnSpc>
                <a:spcPct val="114999"/>
              </a:lnSpc>
            </a:pPr>
            <a:endParaRPr lang="en-US" sz="1800"/>
          </a:p>
          <a:p>
            <a:pPr marL="596900" lvl="1" indent="0">
              <a:lnSpc>
                <a:spcPct val="114999"/>
              </a:lnSpc>
              <a:buNone/>
            </a:pPr>
            <a:endParaRPr lang="en-US" sz="1800"/>
          </a:p>
          <a:p>
            <a:pPr lvl="1">
              <a:lnSpc>
                <a:spcPct val="114999"/>
              </a:lnSpc>
            </a:pPr>
            <a:endParaRPr lang="en-US" sz="800"/>
          </a:p>
          <a:p>
            <a:pPr lvl="1">
              <a:lnSpc>
                <a:spcPct val="114999"/>
              </a:lnSpc>
            </a:pPr>
            <a:endParaRPr lang="en-US" sz="80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DFBC877-46E6-D946-94B3-7EDB97A9CE53}"/>
              </a:ext>
            </a:extLst>
          </p:cNvPr>
          <p:cNvSpPr txBox="1">
            <a:spLocks/>
          </p:cNvSpPr>
          <p:nvPr/>
        </p:nvSpPr>
        <p:spPr>
          <a:xfrm>
            <a:off x="310436" y="2212774"/>
            <a:ext cx="4456944" cy="280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</a:pPr>
            <a:r>
              <a:rPr lang="en-US" sz="2100" b="1" dirty="0"/>
              <a:t>Model Architectures</a:t>
            </a:r>
            <a:r>
              <a:rPr lang="en-US" sz="2100" dirty="0"/>
              <a:t>: 6 diverse architectures covering recurrent, convolutional, and transformer designs (200K to 10.8M parameters)</a:t>
            </a:r>
            <a:endParaRPr lang="en-US" sz="2100" dirty="0">
              <a:solidFill>
                <a:srgbClr val="000000"/>
              </a:solidFill>
            </a:endParaRPr>
          </a:p>
          <a:p>
            <a:pPr>
              <a:lnSpc>
                <a:spcPct val="114999"/>
              </a:lnSpc>
            </a:pPr>
            <a:r>
              <a:rPr lang="en-US" sz="2100" b="1" dirty="0"/>
              <a:t>Activation Functions</a:t>
            </a:r>
            <a:r>
              <a:rPr lang="en-US" sz="2100" dirty="0"/>
              <a:t>: </a:t>
            </a:r>
            <a:r>
              <a:rPr lang="en-US" sz="2100" dirty="0" err="1"/>
              <a:t>ReLU</a:t>
            </a:r>
            <a:r>
              <a:rPr lang="en-US" sz="2100" dirty="0"/>
              <a:t>, GELU, Swish, and two </a:t>
            </a:r>
            <a:r>
              <a:rPr lang="en-US" sz="2100" dirty="0" err="1"/>
              <a:t>SmeLU</a:t>
            </a:r>
            <a:r>
              <a:rPr lang="en-US" sz="2100" dirty="0"/>
              <a:t> variants comparing sharp vs smooth properties</a:t>
            </a:r>
            <a:endParaRPr lang="en-US" sz="2100" dirty="0">
              <a:solidFill>
                <a:srgbClr val="000000"/>
              </a:solidFill>
            </a:endParaRPr>
          </a:p>
          <a:p>
            <a:pPr>
              <a:lnSpc>
                <a:spcPct val="114999"/>
              </a:lnSpc>
            </a:pPr>
            <a:endParaRPr lang="en-US" sz="2100">
              <a:solidFill>
                <a:srgbClr val="000000"/>
              </a:solidFill>
            </a:endParaRPr>
          </a:p>
          <a:p>
            <a:pPr>
              <a:lnSpc>
                <a:spcPct val="114999"/>
              </a:lnSpc>
            </a:pPr>
            <a:endParaRPr lang="en-US" sz="240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29AE3F2-B9A4-118E-67E1-11AD8D6E9595}"/>
              </a:ext>
            </a:extLst>
          </p:cNvPr>
          <p:cNvSpPr txBox="1">
            <a:spLocks/>
          </p:cNvSpPr>
          <p:nvPr/>
        </p:nvSpPr>
        <p:spPr>
          <a:xfrm>
            <a:off x="4685750" y="2212773"/>
            <a:ext cx="4456944" cy="280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</a:pPr>
            <a:r>
              <a:rPr lang="en-US" sz="1700" b="1" dirty="0"/>
              <a:t>Partial Model Training (on CPU)</a:t>
            </a:r>
            <a:r>
              <a:rPr lang="en-US" sz="2100" b="1" dirty="0"/>
              <a:t>:</a:t>
            </a:r>
            <a:r>
              <a:rPr lang="en-US" sz="2100" dirty="0"/>
              <a:t> 75 experiments across all 5 architectures × 5 activations x 3 trials at 500 iterations for quick validation</a:t>
            </a:r>
            <a:endParaRPr lang="en-US" sz="2100" dirty="0">
              <a:solidFill>
                <a:srgbClr val="000000"/>
              </a:solidFill>
            </a:endParaRPr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r>
              <a:rPr lang="en-US" sz="1900" b="1" dirty="0"/>
              <a:t>Full-Scale</a:t>
            </a:r>
            <a:r>
              <a:rPr lang="en-US" sz="1700" b="1" dirty="0"/>
              <a:t> Model Training(on </a:t>
            </a:r>
            <a:r>
              <a:rPr lang="en-US" sz="1900" b="1" dirty="0"/>
              <a:t>GPU</a:t>
            </a:r>
            <a:r>
              <a:rPr lang="en-US" sz="1700" b="1" dirty="0"/>
              <a:t>):</a:t>
            </a:r>
            <a:r>
              <a:rPr lang="en-US" sz="2100" dirty="0"/>
              <a:t> 75 experiments – Considering all layers and 5000 iterations to validate findings at production scale</a:t>
            </a:r>
            <a:endParaRPr lang="en-US" dirty="0"/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endParaRPr lang="en-US" sz="21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BC46E01-D6C0-B0C6-BA3D-DCF6CC88D9CA}"/>
              </a:ext>
            </a:extLst>
          </p:cNvPr>
          <p:cNvSpPr txBox="1">
            <a:spLocks/>
          </p:cNvSpPr>
          <p:nvPr/>
        </p:nvSpPr>
        <p:spPr>
          <a:xfrm>
            <a:off x="6327542" y="1152722"/>
            <a:ext cx="3009710" cy="915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/>
              <a:t>150 Models trained</a:t>
            </a:r>
            <a:r>
              <a:rPr lang="en-US" sz="2400" dirty="0"/>
              <a:t> </a:t>
            </a:r>
            <a:endParaRPr lang="en-US" sz="24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14999"/>
              </a:lnSpc>
              <a:buSzPts val="1800"/>
            </a:pPr>
            <a:endParaRPr lang="en-US" sz="2400"/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endParaRPr lang="en-US" sz="2400"/>
          </a:p>
          <a:p>
            <a:pPr lvl="1">
              <a:lnSpc>
                <a:spcPct val="114999"/>
              </a:lnSpc>
            </a:pPr>
            <a:endParaRPr lang="en-US" sz="1800"/>
          </a:p>
          <a:p>
            <a:pPr lvl="1">
              <a:lnSpc>
                <a:spcPct val="114999"/>
              </a:lnSpc>
            </a:pPr>
            <a:endParaRPr lang="en-US" sz="1800"/>
          </a:p>
          <a:p>
            <a:pPr marL="596900" lvl="1" indent="0">
              <a:lnSpc>
                <a:spcPct val="114999"/>
              </a:lnSpc>
              <a:buFont typeface="Arial"/>
              <a:buNone/>
            </a:pPr>
            <a:endParaRPr lang="en-US" sz="1800"/>
          </a:p>
          <a:p>
            <a:pPr lvl="1">
              <a:lnSpc>
                <a:spcPct val="114999"/>
              </a:lnSpc>
            </a:pPr>
            <a:endParaRPr lang="en-US" sz="800"/>
          </a:p>
          <a:p>
            <a:pPr lvl="1">
              <a:lnSpc>
                <a:spcPct val="114999"/>
              </a:lnSpc>
            </a:pP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529440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79950" y="112150"/>
            <a:ext cx="8913300" cy="4935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SmeLU, </a:t>
            </a:r>
            <a:r>
              <a:rPr lang="en"/>
              <a:t>A Smooth ReLU</a:t>
            </a:r>
            <a:endParaRPr i="1"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2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Subside the discontinuity of ReLU using </a:t>
            </a:r>
            <a:r>
              <a:rPr lang="en" b="1">
                <a:solidFill>
                  <a:schemeClr val="dk1"/>
                </a:solidFill>
              </a:rPr>
              <a:t>multiple pieces joined with smoothness, continuous gradient, constraints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SmeLU matches both sides of ReLU with </a:t>
            </a:r>
            <a:r>
              <a:rPr lang="en" b="1">
                <a:solidFill>
                  <a:schemeClr val="dk1"/>
                </a:solidFill>
              </a:rPr>
              <a:t>a middle quadratic region</a:t>
            </a:r>
            <a:endParaRPr b="1">
              <a:solidFill>
                <a:schemeClr val="dk1"/>
              </a:solidFill>
            </a:endParaRPr>
          </a:p>
        </p:txBody>
      </p:sp>
      <p:grpSp>
        <p:nvGrpSpPr>
          <p:cNvPr id="86" name="Google Shape;86;p17"/>
          <p:cNvGrpSpPr/>
          <p:nvPr/>
        </p:nvGrpSpPr>
        <p:grpSpPr>
          <a:xfrm>
            <a:off x="2505788" y="3111750"/>
            <a:ext cx="4132425" cy="1866100"/>
            <a:chOff x="2505788" y="3111750"/>
            <a:chExt cx="4132425" cy="1866100"/>
          </a:xfrm>
        </p:grpSpPr>
        <p:pic>
          <p:nvPicPr>
            <p:cNvPr id="87" name="Google Shape;8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05788" y="3111750"/>
              <a:ext cx="4132425" cy="146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7"/>
            <p:cNvSpPr txBox="1"/>
            <p:nvPr/>
          </p:nvSpPr>
          <p:spPr>
            <a:xfrm>
              <a:off x="3200088" y="4577650"/>
              <a:ext cx="274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Definition: </a:t>
              </a:r>
              <a:r>
                <a:rPr lang="en" b="1" i="1"/>
                <a:t>SmeLU</a:t>
              </a:r>
              <a:endParaRPr b="1" i="1"/>
            </a:p>
          </p:txBody>
        </p:sp>
      </p:grp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300" y="2809475"/>
            <a:ext cx="2200987" cy="1969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79950" y="112150"/>
            <a:ext cx="8913300" cy="4935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/>
              <a:t>Measuring Reproducibility: Relative Prediction Difference</a:t>
            </a:r>
            <a:endParaRPr lang="en-US"/>
          </a:p>
        </p:txBody>
      </p:sp>
      <p:sp>
        <p:nvSpPr>
          <p:cNvPr id="96" name="Google Shape;96;p18"/>
          <p:cNvSpPr txBox="1"/>
          <p:nvPr/>
        </p:nvSpPr>
        <p:spPr>
          <a:xfrm>
            <a:off x="425775" y="1237200"/>
            <a:ext cx="8276700" cy="192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" sz="1800">
                <a:solidFill>
                  <a:schemeClr val="dk1"/>
                </a:solidFill>
              </a:rPr>
              <a:t>Training multiple models to calculate </a:t>
            </a:r>
            <a:r>
              <a:rPr lang="en" sz="1800" b="1">
                <a:solidFill>
                  <a:schemeClr val="dk1"/>
                </a:solidFill>
              </a:rPr>
              <a:t>standard deviations or KL Divergence</a:t>
            </a:r>
            <a:r>
              <a:rPr lang="en" sz="1800">
                <a:solidFill>
                  <a:schemeClr val="dk1"/>
                </a:solidFill>
              </a:rPr>
              <a:t> might be </a:t>
            </a:r>
            <a:r>
              <a:rPr lang="en" sz="1800" b="1">
                <a:solidFill>
                  <a:schemeClr val="dk1"/>
                </a:solidFill>
              </a:rPr>
              <a:t>too expensive</a:t>
            </a:r>
            <a:r>
              <a:rPr lang="en" sz="1800">
                <a:solidFill>
                  <a:schemeClr val="dk1"/>
                </a:solidFill>
              </a:rPr>
              <a:t>, we need a metric with </a:t>
            </a:r>
            <a:r>
              <a:rPr lang="en" sz="1800" b="1">
                <a:solidFill>
                  <a:schemeClr val="dk1"/>
                </a:solidFill>
              </a:rPr>
              <a:t>minimal cost</a:t>
            </a:r>
            <a:endParaRPr lang="en-US" sz="1800">
              <a:solidFill>
                <a:schemeClr val="dk1"/>
              </a:solidFill>
            </a:endParaRPr>
          </a:p>
          <a:p>
            <a:pPr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</a:pPr>
            <a:r>
              <a:rPr lang="en" sz="1800">
                <a:solidFill>
                  <a:schemeClr val="dk1"/>
                </a:solidFill>
              </a:rPr>
              <a:t>Empirically, </a:t>
            </a:r>
            <a:r>
              <a:rPr lang="en" sz="1800" b="1">
                <a:solidFill>
                  <a:schemeClr val="dk1"/>
                </a:solidFill>
              </a:rPr>
              <a:t>PDs between two models </a:t>
            </a:r>
            <a:r>
              <a:rPr lang="en" sz="1800">
                <a:solidFill>
                  <a:schemeClr val="dk1"/>
                </a:solidFill>
              </a:rPr>
              <a:t>tend to </a:t>
            </a:r>
            <a:r>
              <a:rPr lang="en" sz="1800" b="1">
                <a:solidFill>
                  <a:schemeClr val="dk1"/>
                </a:solidFill>
              </a:rPr>
              <a:t>settle to roughly the same values for different pairs </a:t>
            </a:r>
            <a:r>
              <a:rPr lang="en" sz="1800">
                <a:solidFill>
                  <a:schemeClr val="dk1"/>
                </a:solidFill>
              </a:rPr>
              <a:t>of the same model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97" name="Google Shape;97;p18"/>
          <p:cNvGrpSpPr/>
          <p:nvPr/>
        </p:nvGrpSpPr>
        <p:grpSpPr>
          <a:xfrm>
            <a:off x="2315450" y="3229250"/>
            <a:ext cx="4513100" cy="1993300"/>
            <a:chOff x="2315450" y="3229250"/>
            <a:chExt cx="4513100" cy="1993300"/>
          </a:xfrm>
        </p:grpSpPr>
        <p:pic>
          <p:nvPicPr>
            <p:cNvPr id="98" name="Google Shape;98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15450" y="3229250"/>
              <a:ext cx="4513100" cy="100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8"/>
            <p:cNvSpPr txBox="1"/>
            <p:nvPr/>
          </p:nvSpPr>
          <p:spPr>
            <a:xfrm>
              <a:off x="3192225" y="4437750"/>
              <a:ext cx="3608376" cy="7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Definition: </a:t>
              </a:r>
              <a:r>
                <a:rPr lang="en" b="1" i="1" dirty="0"/>
                <a:t>relative PD</a:t>
              </a:r>
            </a:p>
            <a:p>
              <a:pPr algn="ctr"/>
              <a:r>
                <a:rPr lang="en" sz="1100">
                  <a:latin typeface="Segoe UI"/>
                  <a:cs typeface="Segoe UI"/>
                </a:rPr>
                <a:t>(Source: Shamir et al., Google Research Blog, 2025)</a:t>
              </a:r>
              <a:endParaRPr lang="en"/>
            </a:p>
            <a:p>
              <a:pPr algn="ctr"/>
              <a:endParaRPr lang="en" b="1" i="1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/>
          <p:nvPr/>
        </p:nvSpPr>
        <p:spPr>
          <a:xfrm>
            <a:off x="79950" y="112150"/>
            <a:ext cx="8913300" cy="4935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 i="1" dirty="0"/>
              <a:t>Methodology - </a:t>
            </a:r>
            <a:r>
              <a:rPr lang="en" sz="2000" i="1" dirty="0"/>
              <a:t>Overview</a:t>
            </a:r>
            <a:endParaRPr sz="2000" i="1" dirty="0"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chemeClr val="dk1"/>
                </a:solidFill>
              </a:rPr>
              <a:t>Set </a:t>
            </a:r>
            <a:r>
              <a:rPr lang="en" sz="2100" b="1" dirty="0">
                <a:solidFill>
                  <a:schemeClr val="dk1"/>
                </a:solidFill>
              </a:rPr>
              <a:t>experimental studies</a:t>
            </a:r>
            <a:r>
              <a:rPr lang="en" sz="2100" dirty="0">
                <a:solidFill>
                  <a:schemeClr val="dk1"/>
                </a:solidFill>
              </a:rPr>
              <a:t> using a </a:t>
            </a:r>
            <a:r>
              <a:rPr lang="en" sz="2100" b="1" dirty="0">
                <a:solidFill>
                  <a:schemeClr val="dk1"/>
                </a:solidFill>
              </a:rPr>
              <a:t>reproducibility evaluation framework:</a:t>
            </a:r>
            <a:endParaRPr sz="2100" b="1" dirty="0">
              <a:solidFill>
                <a:schemeClr val="dk1"/>
              </a:solidFill>
            </a:endParaRPr>
          </a:p>
          <a:p>
            <a:pPr>
              <a:lnSpc>
                <a:spcPct val="114999"/>
              </a:lnSpc>
              <a:buClr>
                <a:srgbClr val="595959"/>
              </a:buClr>
              <a:buSzPct val="100000"/>
            </a:pPr>
            <a:r>
              <a:rPr lang="en" sz="2100" dirty="0">
                <a:solidFill>
                  <a:schemeClr val="dk1"/>
                </a:solidFill>
              </a:rPr>
              <a:t>For each {model architecture, activation function} combination:</a:t>
            </a:r>
          </a:p>
          <a:p>
            <a:pPr lvl="1">
              <a:lnSpc>
                <a:spcPct val="114999"/>
              </a:lnSpc>
              <a:buClr>
                <a:srgbClr val="595959"/>
              </a:buClr>
            </a:pPr>
            <a:r>
              <a:rPr lang="en" sz="1700" dirty="0">
                <a:solidFill>
                  <a:schemeClr val="dk1"/>
                </a:solidFill>
              </a:rPr>
              <a:t>Training:</a:t>
            </a:r>
          </a:p>
          <a:p>
            <a:pPr lvl="2">
              <a:lnSpc>
                <a:spcPct val="114999"/>
              </a:lnSpc>
              <a:buClr>
                <a:srgbClr val="595959"/>
              </a:buClr>
              <a:buFont typeface="Wingdings,Sans-Serif"/>
              <a:buChar char="§"/>
            </a:pPr>
            <a:r>
              <a:rPr lang="en" sz="1700" dirty="0">
                <a:solidFill>
                  <a:schemeClr val="dk1"/>
                </a:solidFill>
              </a:rPr>
              <a:t>Train k=3 independent models with identical hyperparameters (learning rate, batch size, dataset, train/valid split, seed)</a:t>
            </a:r>
            <a:endParaRPr lang="en-US" sz="1700" dirty="0">
              <a:solidFill>
                <a:schemeClr val="dk1"/>
              </a:solidFill>
            </a:endParaRPr>
          </a:p>
          <a:p>
            <a:pPr lvl="2">
              <a:lnSpc>
                <a:spcPct val="114999"/>
              </a:lnSpc>
              <a:buClr>
                <a:srgbClr val="595959"/>
              </a:buClr>
              <a:buFont typeface="Wingdings,Sans-Serif"/>
              <a:buChar char="§"/>
            </a:pPr>
            <a:r>
              <a:rPr lang="en" sz="1700" dirty="0">
                <a:solidFill>
                  <a:schemeClr val="dk1"/>
                </a:solidFill>
              </a:rPr>
              <a:t>5000 iterations for full model train</a:t>
            </a:r>
            <a:endParaRPr lang="en-US" sz="1700" dirty="0">
              <a:solidFill>
                <a:schemeClr val="dk1"/>
              </a:solidFill>
            </a:endParaRPr>
          </a:p>
          <a:p>
            <a:pPr lvl="1">
              <a:lnSpc>
                <a:spcPct val="114999"/>
              </a:lnSpc>
              <a:buClr>
                <a:srgbClr val="595959"/>
              </a:buClr>
            </a:pPr>
            <a:r>
              <a:rPr lang="en" sz="1700" dirty="0">
                <a:solidFill>
                  <a:schemeClr val="dk1"/>
                </a:solidFill>
              </a:rPr>
              <a:t>Metrics</a:t>
            </a:r>
            <a:endParaRPr lang="en-US" sz="1700" dirty="0">
              <a:solidFill>
                <a:schemeClr val="dk1"/>
              </a:solidFill>
            </a:endParaRPr>
          </a:p>
          <a:p>
            <a:pPr lvl="2">
              <a:lnSpc>
                <a:spcPct val="114999"/>
              </a:lnSpc>
              <a:buClr>
                <a:srgbClr val="595959"/>
              </a:buClr>
              <a:buFont typeface="Wingdings,Sans-Serif"/>
              <a:buChar char="§"/>
            </a:pPr>
            <a:r>
              <a:rPr lang="en" sz="1700" dirty="0">
                <a:solidFill>
                  <a:schemeClr val="dk1"/>
                </a:solidFill>
              </a:rPr>
              <a:t>Reproducibility: Compute Relative PD &amp; Prediction differences</a:t>
            </a:r>
            <a:endParaRPr lang="en-US" sz="1700" dirty="0">
              <a:solidFill>
                <a:schemeClr val="dk1"/>
              </a:solidFill>
            </a:endParaRPr>
          </a:p>
          <a:p>
            <a:pPr lvl="2">
              <a:lnSpc>
                <a:spcPct val="114999"/>
              </a:lnSpc>
              <a:buClr>
                <a:srgbClr val="595959"/>
              </a:buClr>
              <a:buFont typeface="Wingdings,Sans-Serif"/>
              <a:buChar char="§"/>
            </a:pPr>
            <a:r>
              <a:rPr lang="en" sz="1700" dirty="0">
                <a:solidFill>
                  <a:schemeClr val="dk1"/>
                </a:solidFill>
              </a:rPr>
              <a:t>Performance: Validation loss &amp; accuracy</a:t>
            </a:r>
            <a:endParaRPr lang="en-US" sz="1700" dirty="0">
              <a:solidFill>
                <a:schemeClr val="dk1"/>
              </a:solidFill>
            </a:endParaRPr>
          </a:p>
          <a:p>
            <a:pPr lvl="1">
              <a:lnSpc>
                <a:spcPct val="114999"/>
              </a:lnSpc>
              <a:buClr>
                <a:srgbClr val="595959"/>
              </a:buClr>
            </a:pPr>
            <a:r>
              <a:rPr lang="en" sz="1700" dirty="0">
                <a:solidFill>
                  <a:schemeClr val="dk1"/>
                </a:solidFill>
              </a:rPr>
              <a:t>Aggregation across Trials</a:t>
            </a:r>
            <a:endParaRPr lang="en-US" sz="1700" dirty="0">
              <a:solidFill>
                <a:schemeClr val="dk1"/>
              </a:solidFill>
            </a:endParaRPr>
          </a:p>
          <a:p>
            <a:pPr lvl="2">
              <a:lnSpc>
                <a:spcPct val="114999"/>
              </a:lnSpc>
              <a:buClr>
                <a:srgbClr val="595959"/>
              </a:buClr>
              <a:buFont typeface="Wingdings,Sans-Serif"/>
              <a:buChar char="§"/>
            </a:pPr>
            <a:r>
              <a:rPr lang="en" sz="1700" dirty="0">
                <a:solidFill>
                  <a:schemeClr val="dk1"/>
                </a:solidFill>
              </a:rPr>
              <a:t>3 pairs, 3 pairwise comparisons (T1-&gt;T2, T2-&gt;T3, T1-&gt;T3)</a:t>
            </a:r>
            <a:endParaRPr lang="en-US" sz="1700" dirty="0">
              <a:solidFill>
                <a:schemeClr val="dk1"/>
              </a:solidFill>
            </a:endParaRPr>
          </a:p>
          <a:p>
            <a:pPr lvl="2">
              <a:lnSpc>
                <a:spcPct val="114999"/>
              </a:lnSpc>
              <a:buClr>
                <a:srgbClr val="595959"/>
              </a:buClr>
              <a:buFont typeface="Wingdings,Sans-Serif"/>
              <a:buChar char="§"/>
            </a:pPr>
            <a:r>
              <a:rPr lang="en" sz="1700" dirty="0">
                <a:solidFill>
                  <a:schemeClr val="dk1"/>
                </a:solidFill>
              </a:rPr>
              <a:t>Performance: Validation loss &amp; accuracy</a:t>
            </a:r>
            <a:endParaRPr lang="en-US" sz="1700" dirty="0">
              <a:solidFill>
                <a:schemeClr val="dk1"/>
              </a:solidFill>
            </a:endParaRPr>
          </a:p>
          <a:p>
            <a:pPr>
              <a:lnSpc>
                <a:spcPct val="114999"/>
              </a:lnSpc>
              <a:buClr>
                <a:schemeClr val="dk1"/>
              </a:buClr>
              <a:buSzPct val="100000"/>
            </a:pPr>
            <a:endParaRPr lang="en" sz="2100" dirty="0">
              <a:solidFill>
                <a:schemeClr val="dk1"/>
              </a:solidFill>
            </a:endParaRPr>
          </a:p>
          <a:p>
            <a:pPr>
              <a:lnSpc>
                <a:spcPct val="114999"/>
              </a:lnSpc>
              <a:buClr>
                <a:schemeClr val="dk1"/>
              </a:buClr>
              <a:buSzPct val="100000"/>
            </a:pPr>
            <a:r>
              <a:rPr lang="en" sz="2100" dirty="0">
                <a:solidFill>
                  <a:schemeClr val="dk1"/>
                </a:solidFill>
              </a:rPr>
              <a:t>Compare architectures: Which models are Activation sensitive</a:t>
            </a:r>
            <a:endParaRPr lang="en" sz="2100" i="1" dirty="0">
              <a:solidFill>
                <a:schemeClr val="dk1"/>
              </a:solidFill>
            </a:endParaRPr>
          </a:p>
          <a:p>
            <a:pPr>
              <a:lnSpc>
                <a:spcPct val="114999"/>
              </a:lnSpc>
              <a:buClr>
                <a:schemeClr val="dk1"/>
              </a:buClr>
              <a:buSzPct val="100000"/>
            </a:pPr>
            <a:r>
              <a:rPr lang="en" sz="2100" dirty="0">
                <a:solidFill>
                  <a:schemeClr val="dk1"/>
                </a:solidFill>
              </a:rPr>
              <a:t>Compare activations: Which activation is performing the best within model architecture </a:t>
            </a:r>
          </a:p>
          <a:p>
            <a:pPr lvl="1">
              <a:lnSpc>
                <a:spcPct val="114999"/>
              </a:lnSpc>
              <a:buClr>
                <a:schemeClr val="dk1"/>
              </a:buClr>
              <a:buSzPct val="100000"/>
            </a:pPr>
            <a:endParaRPr lang="en" sz="1700" dirty="0">
              <a:solidFill>
                <a:schemeClr val="dk1"/>
              </a:solidFill>
            </a:endParaRPr>
          </a:p>
          <a:p>
            <a:pPr lvl="2">
              <a:lnSpc>
                <a:spcPct val="114999"/>
              </a:lnSpc>
              <a:buClr>
                <a:srgbClr val="595959"/>
              </a:buClr>
              <a:buFont typeface="Wingdings,Sans-Serif"/>
              <a:buChar char="§"/>
            </a:pPr>
            <a:endParaRPr lang="en" sz="1700" dirty="0">
              <a:solidFill>
                <a:schemeClr val="dk1"/>
              </a:solidFill>
            </a:endParaRPr>
          </a:p>
          <a:p>
            <a:pPr marL="1054100" lvl="2" indent="0">
              <a:lnSpc>
                <a:spcPct val="114999"/>
              </a:lnSpc>
              <a:buClr>
                <a:srgbClr val="595959"/>
              </a:buClr>
              <a:buNone/>
            </a:pPr>
            <a:endParaRPr lang="en" sz="1700" dirty="0">
              <a:solidFill>
                <a:schemeClr val="dk1"/>
              </a:solidFill>
            </a:endParaRPr>
          </a:p>
          <a:p>
            <a:pPr lvl="2">
              <a:lnSpc>
                <a:spcPct val="114999"/>
              </a:lnSpc>
              <a:buClr>
                <a:srgbClr val="595959"/>
              </a:buClr>
              <a:buFont typeface="Wingdings,Sans-Serif"/>
              <a:buChar char="§"/>
            </a:pPr>
            <a:endParaRPr lang="en" sz="1700" dirty="0">
              <a:solidFill>
                <a:schemeClr val="dk1"/>
              </a:solidFill>
            </a:endParaRPr>
          </a:p>
          <a:p>
            <a:pPr lvl="2">
              <a:lnSpc>
                <a:spcPct val="114999"/>
              </a:lnSpc>
              <a:buClr>
                <a:schemeClr val="dk1"/>
              </a:buClr>
              <a:buSzPct val="100000"/>
              <a:buFont typeface="Wingdings"/>
              <a:buChar char="§"/>
            </a:pPr>
            <a:endParaRPr lang="en" sz="1700" dirty="0">
              <a:solidFill>
                <a:schemeClr val="dk1"/>
              </a:solidFill>
            </a:endParaRPr>
          </a:p>
          <a:p>
            <a:pPr indent="-331470">
              <a:lnSpc>
                <a:spcPct val="114999"/>
              </a:lnSpc>
              <a:spcBef>
                <a:spcPts val="1200"/>
              </a:spcBef>
              <a:buClr>
                <a:schemeClr val="dk1"/>
              </a:buClr>
              <a:buSzPct val="100000"/>
            </a:pPr>
            <a:endParaRPr lang="en" sz="2100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12A1D-A4C5-21E2-59FD-E6A7A71EA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46" y="9247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Relative PD Framework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8A6CE-9ABE-93FB-C926-FB4CB6C61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047" y="785082"/>
            <a:ext cx="3432766" cy="1768699"/>
          </a:xfrm>
        </p:spPr>
        <p:txBody>
          <a:bodyPr/>
          <a:lstStyle/>
          <a:p>
            <a:r>
              <a:rPr lang="en-US" dirty="0"/>
              <a:t>python train.py --model </a:t>
            </a:r>
            <a:r>
              <a:rPr lang="en-US" err="1"/>
              <a:t>minigpt</a:t>
            </a:r>
            <a:r>
              <a:rPr lang="en-US" dirty="0"/>
              <a:t> --activation </a:t>
            </a:r>
            <a:r>
              <a:rPr lang="en-US" err="1"/>
              <a:t>relu</a:t>
            </a:r>
            <a:r>
              <a:rPr lang="en-US" dirty="0"/>
              <a:t> </a:t>
            </a:r>
            <a:r>
              <a:rPr lang="en-US" err="1"/>
              <a:t>gelu</a:t>
            </a:r>
            <a:r>
              <a:rPr lang="en-US" dirty="0"/>
              <a:t> swish </a:t>
            </a:r>
            <a:r>
              <a:rPr lang="en-US" err="1"/>
              <a:t>swiglu</a:t>
            </a:r>
            <a:r>
              <a:rPr lang="en-US" dirty="0"/>
              <a:t> smelu_1 --trials 3 --</a:t>
            </a:r>
            <a:r>
              <a:rPr lang="en-US" err="1"/>
              <a:t>max_iters</a:t>
            </a:r>
            <a:r>
              <a:rPr lang="en-US" dirty="0"/>
              <a:t> 5000 --device </a:t>
            </a:r>
            <a:r>
              <a:rPr lang="en-US" err="1"/>
              <a:t>cuda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8CE59FC-5491-BD96-2BE6-A12BCB0E8D4F}"/>
              </a:ext>
            </a:extLst>
          </p:cNvPr>
          <p:cNvSpPr txBox="1">
            <a:spLocks/>
          </p:cNvSpPr>
          <p:nvPr/>
        </p:nvSpPr>
        <p:spPr>
          <a:xfrm>
            <a:off x="5455447" y="2818979"/>
            <a:ext cx="3432766" cy="176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</a:pPr>
            <a:r>
              <a:rPr lang="en-US" dirty="0"/>
              <a:t>Framework is flexible to support new Model, Activation Function &amp; Evaluation </a:t>
            </a:r>
            <a:r>
              <a:rPr lang="en-US" dirty="0" err="1"/>
              <a:t>criterias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15A329-3D8B-15BD-A0E3-CC52E0DE1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02" y="786740"/>
            <a:ext cx="4777334" cy="414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66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79950" y="112150"/>
            <a:ext cx="8913300" cy="4935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420175" y="206775"/>
            <a:ext cx="823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 i="1" dirty="0"/>
              <a:t>Model Architectures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619FAD-ED7F-59CD-07FC-BB3D44D7DE42}"/>
              </a:ext>
            </a:extLst>
          </p:cNvPr>
          <p:cNvSpPr txBox="1"/>
          <p:nvPr/>
        </p:nvSpPr>
        <p:spPr>
          <a:xfrm>
            <a:off x="421738" y="936103"/>
            <a:ext cx="45720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656861-1A7B-1905-FDF2-96A9A350509E}"/>
              </a:ext>
            </a:extLst>
          </p:cNvPr>
          <p:cNvSpPr txBox="1"/>
          <p:nvPr/>
        </p:nvSpPr>
        <p:spPr>
          <a:xfrm>
            <a:off x="319149" y="1091045"/>
            <a:ext cx="4004210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CharLM</a:t>
            </a:r>
            <a:r>
              <a:rPr lang="en-US" b="1" dirty="0"/>
              <a:t> </a:t>
            </a:r>
            <a:r>
              <a:rPr lang="en-US" dirty="0"/>
              <a:t>- Simple Feedforward Language Model </a:t>
            </a:r>
            <a:endParaRPr lang="en-US" b="1" dirty="0"/>
          </a:p>
          <a:p>
            <a:pPr marL="285750" indent="-285750">
              <a:buChar char="•"/>
            </a:pPr>
            <a:r>
              <a:rPr lang="en-US" dirty="0"/>
              <a:t>Test if simple architectures show activation sensitivity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10M params; </a:t>
            </a: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</a:rPr>
              <a:t>6 feedforward (MLP) layers</a:t>
            </a:r>
            <a:endParaRPr lang="en-US" dirty="0"/>
          </a:p>
          <a:p>
            <a:pPr marL="285750" indent="-285750">
              <a:buChar char="•"/>
            </a:pPr>
            <a:endParaRPr lang="en-US" dirty="0"/>
          </a:p>
          <a:p>
            <a:pPr marL="285750" indent="-285750"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b="1" dirty="0" err="1"/>
              <a:t>MiniGPT</a:t>
            </a:r>
            <a:r>
              <a:rPr lang="en-US" b="1" dirty="0"/>
              <a:t> </a:t>
            </a:r>
            <a:r>
              <a:rPr lang="en-US" dirty="0"/>
              <a:t>- Transformer with Attention</a:t>
            </a:r>
          </a:p>
          <a:p>
            <a:pPr marL="285750" indent="-285750">
              <a:buChar char="•"/>
            </a:pPr>
            <a:r>
              <a:rPr lang="en-US" dirty="0"/>
              <a:t>Simplified GPT-style decoder-only transformer</a:t>
            </a:r>
          </a:p>
          <a:p>
            <a:pPr marL="285750" indent="-285750">
              <a:buChar char="•"/>
            </a:pPr>
            <a:r>
              <a:rPr lang="en-US" dirty="0"/>
              <a:t>Multi-head self-attention mechanism</a:t>
            </a:r>
          </a:p>
          <a:p>
            <a:pPr marL="285750" indent="-285750">
              <a:buChar char="•"/>
            </a:pP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</a:rPr>
              <a:t>10M params; 6 transformer decoder blocks (GPT-style)</a:t>
            </a:r>
            <a:endParaRPr lang="en-US" dirty="0"/>
          </a:p>
          <a:p>
            <a:endParaRPr lang="en-US" dirty="0"/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A9726-ED89-0042-7868-921900DCBF51}"/>
              </a:ext>
            </a:extLst>
          </p:cNvPr>
          <p:cNvSpPr txBox="1"/>
          <p:nvPr/>
        </p:nvSpPr>
        <p:spPr>
          <a:xfrm>
            <a:off x="4716730" y="1009401"/>
            <a:ext cx="3933701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NanoTransformer</a:t>
            </a:r>
            <a:r>
              <a:rPr lang="en-US" b="1" dirty="0"/>
              <a:t> </a:t>
            </a:r>
            <a:r>
              <a:rPr lang="en-US" dirty="0"/>
              <a:t>- Minimal Transformer</a:t>
            </a:r>
          </a:p>
          <a:p>
            <a:pPr marL="285750" indent="-285750">
              <a:buChar char="•"/>
            </a:pPr>
            <a:r>
              <a:rPr lang="en-US" dirty="0"/>
              <a:t>Lightweight transformer architecture</a:t>
            </a:r>
          </a:p>
          <a:p>
            <a:pPr marL="285750" indent="-285750">
              <a:buChar char="•"/>
            </a:pPr>
            <a:r>
              <a:rPr lang="en-US" dirty="0"/>
              <a:t>Test if minimal attention is sufficient</a:t>
            </a:r>
          </a:p>
          <a:p>
            <a:pPr marL="285750" indent="-285750">
              <a:buChar char="•"/>
            </a:pP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</a:rPr>
              <a:t>10M params; 6 encoder + 6 decoder</a:t>
            </a:r>
            <a:endParaRPr lang="en-US" dirty="0"/>
          </a:p>
          <a:p>
            <a:endParaRPr lang="en-US" dirty="0"/>
          </a:p>
          <a:p>
            <a:endParaRPr lang="en-US"/>
          </a:p>
          <a:p>
            <a:r>
              <a:rPr lang="en-US" b="1" dirty="0" err="1"/>
              <a:t>ConvLM</a:t>
            </a:r>
            <a:r>
              <a:rPr lang="en-US" b="1" dirty="0"/>
              <a:t> </a:t>
            </a:r>
            <a:r>
              <a:rPr lang="en-US" dirty="0"/>
              <a:t>- Convolutional Language Model</a:t>
            </a:r>
          </a:p>
          <a:p>
            <a:pPr marL="285750" indent="-285750">
              <a:buChar char="•"/>
            </a:pPr>
            <a:r>
              <a:rPr lang="en-US" dirty="0"/>
              <a:t>Pure CNN architecture for sequence modeling; 10M parameters, 6 conv layers</a:t>
            </a:r>
          </a:p>
          <a:p>
            <a:pPr marL="285750" indent="-285750">
              <a:buChar char="•"/>
            </a:pPr>
            <a:r>
              <a:rPr lang="en-US" dirty="0"/>
              <a:t>Test non-recurrent, non-attention approach</a:t>
            </a:r>
          </a:p>
          <a:p>
            <a:endParaRPr lang="en-US" dirty="0"/>
          </a:p>
          <a:p>
            <a:r>
              <a:rPr lang="en-US" b="1" dirty="0" err="1"/>
              <a:t>HybridLM</a:t>
            </a:r>
            <a:r>
              <a:rPr lang="en-US" b="1" dirty="0"/>
              <a:t> </a:t>
            </a:r>
            <a:r>
              <a:rPr lang="en-US" dirty="0"/>
              <a:t>- Multi-Component Architecture</a:t>
            </a:r>
          </a:p>
          <a:p>
            <a:pPr marL="285750" indent="-285750">
              <a:buChar char="•"/>
            </a:pPr>
            <a:r>
              <a:rPr lang="en-US" dirty="0"/>
              <a:t>Combines convolution, recurrence, and feedforward layers</a:t>
            </a:r>
          </a:p>
          <a:p>
            <a:pPr marL="285750" indent="-285750">
              <a:buChar char="•"/>
            </a:pPr>
            <a:r>
              <a:rPr lang="en-US" dirty="0"/>
              <a:t>Rationale: Test complex hybrid designs</a:t>
            </a:r>
          </a:p>
          <a:p>
            <a:pPr marL="285750" indent="-285750">
              <a:buChar char="•"/>
            </a:pPr>
            <a:r>
              <a:rPr lang="en-US" dirty="0"/>
              <a:t>10M params; </a:t>
            </a: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</a:rPr>
              <a:t>2 CNN + 2 Transformer + 2 LSTM </a:t>
            </a:r>
            <a:endParaRPr lang="en-US" dirty="0"/>
          </a:p>
          <a:p>
            <a:pPr marL="285750" indent="-285750">
              <a:buChar char="•"/>
            </a:pPr>
            <a:endParaRPr lang="en-US" dirty="0"/>
          </a:p>
          <a:p>
            <a:endParaRPr lang="en-US" dirty="0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/>
          <p:nvPr/>
        </p:nvSpPr>
        <p:spPr>
          <a:xfrm>
            <a:off x="79950" y="112150"/>
            <a:ext cx="8913300" cy="4935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43650" y="269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Challenges</a:t>
            </a:r>
            <a:endParaRPr i="1"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199875" y="1184475"/>
            <a:ext cx="8520600" cy="31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Conducting a study with </a:t>
            </a:r>
            <a:r>
              <a:rPr lang="en" b="1" dirty="0">
                <a:solidFill>
                  <a:schemeClr val="dk1"/>
                </a:solidFill>
              </a:rPr>
              <a:t>various different configurations </a:t>
            </a:r>
            <a:r>
              <a:rPr lang="en" dirty="0">
                <a:solidFill>
                  <a:schemeClr val="dk1"/>
                </a:solidFill>
              </a:rPr>
              <a:t>and </a:t>
            </a:r>
            <a:r>
              <a:rPr lang="en" b="1" dirty="0">
                <a:solidFill>
                  <a:schemeClr val="dk1"/>
                </a:solidFill>
              </a:rPr>
              <a:t>maintaining consistency</a:t>
            </a:r>
            <a:endParaRPr b="1" dirty="0">
              <a:solidFill>
                <a:schemeClr val="dk1"/>
              </a:solidFill>
            </a:endParaRPr>
          </a:p>
          <a:p>
            <a:pPr lvl="1">
              <a:buClr>
                <a:schemeClr val="dk1"/>
              </a:buClr>
              <a:buAutoNum type="alphaLcPeriod"/>
            </a:pPr>
            <a:r>
              <a:rPr lang="en" dirty="0">
                <a:solidFill>
                  <a:schemeClr val="dk1"/>
                </a:solidFill>
              </a:rPr>
              <a:t>We trained </a:t>
            </a:r>
            <a:r>
              <a:rPr lang="en" b="1" dirty="0">
                <a:solidFill>
                  <a:schemeClr val="dk1"/>
                </a:solidFill>
              </a:rPr>
              <a:t>a total of </a:t>
            </a:r>
            <a:r>
              <a:rPr lang="en" sz="1800" b="1" dirty="0">
                <a:solidFill>
                  <a:schemeClr val="dk1"/>
                </a:solidFill>
              </a:rPr>
              <a:t>150+ </a:t>
            </a:r>
            <a:r>
              <a:rPr lang="en" b="1" dirty="0">
                <a:solidFill>
                  <a:schemeClr val="dk1"/>
                </a:solidFill>
              </a:rPr>
              <a:t>models</a:t>
            </a:r>
            <a:r>
              <a:rPr lang="en" dirty="0">
                <a:solidFill>
                  <a:schemeClr val="dk1"/>
                </a:solidFill>
              </a:rPr>
              <a:t> across 5</a:t>
            </a:r>
            <a:r>
              <a:rPr lang="en" b="1" dirty="0">
                <a:solidFill>
                  <a:schemeClr val="dk1"/>
                </a:solidFill>
              </a:rPr>
              <a:t> different </a:t>
            </a:r>
            <a:r>
              <a:rPr lang="en" sz="1200" b="1" dirty="0">
                <a:solidFill>
                  <a:schemeClr val="dk1"/>
                </a:solidFill>
              </a:rPr>
              <a:t>Character level</a:t>
            </a:r>
            <a:r>
              <a:rPr lang="en" b="1" dirty="0">
                <a:solidFill>
                  <a:schemeClr val="dk1"/>
                </a:solidFill>
              </a:rPr>
              <a:t> Language Models architectures &amp; 5 Activation Functions</a:t>
            </a:r>
            <a:endParaRPr b="1" dirty="0">
              <a:solidFill>
                <a:schemeClr val="dk1"/>
              </a:solidFill>
            </a:endParaRPr>
          </a:p>
          <a:p>
            <a:pPr lvl="1">
              <a:lnSpc>
                <a:spcPct val="114999"/>
              </a:lnSpc>
              <a:buClr>
                <a:schemeClr val="dk1"/>
              </a:buClr>
              <a:buAutoNum type="alphaLcPeriod"/>
            </a:pPr>
            <a:r>
              <a:rPr lang="en" b="1" dirty="0">
                <a:solidFill>
                  <a:schemeClr val="dk1"/>
                </a:solidFill>
              </a:rPr>
              <a:t>Building Framework helped increase velocity</a:t>
            </a:r>
          </a:p>
          <a:p>
            <a:pPr marL="596900" lvl="1" indent="0">
              <a:lnSpc>
                <a:spcPct val="114999"/>
              </a:lnSpc>
              <a:buClr>
                <a:schemeClr val="dk1"/>
              </a:buClr>
              <a:buNone/>
            </a:pPr>
            <a:endParaRPr lang="en" b="1" dirty="0">
              <a:solidFill>
                <a:schemeClr val="dk1"/>
              </a:solidFill>
            </a:endParaRPr>
          </a:p>
          <a:p>
            <a:pPr>
              <a:lnSpc>
                <a:spcPct val="114999"/>
              </a:lnSpc>
              <a:buClr>
                <a:srgbClr val="595959"/>
              </a:buClr>
              <a:buAutoNum type="arabicPeriod"/>
            </a:pPr>
            <a:r>
              <a:rPr lang="en" sz="1700" dirty="0">
                <a:solidFill>
                  <a:schemeClr val="dk1"/>
                </a:solidFill>
                <a:highlight>
                  <a:srgbClr val="FFFFFF"/>
                </a:highlight>
              </a:rPr>
              <a:t>CPU vs GPU</a:t>
            </a:r>
            <a:endParaRPr lang="en-US" sz="17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lvl="1">
              <a:lnSpc>
                <a:spcPct val="114999"/>
              </a:lnSpc>
              <a:buClr>
                <a:srgbClr val="595959"/>
              </a:buClr>
              <a:buAutoNum type="alphaLcPeriod"/>
            </a:pPr>
            <a:r>
              <a:rPr lang="en" sz="1300" dirty="0">
                <a:solidFill>
                  <a:schemeClr val="dk1"/>
                </a:solidFill>
                <a:highlight>
                  <a:srgbClr val="FFFFFF"/>
                </a:highlight>
              </a:rPr>
              <a:t>Started with CPU, moved to GPU</a:t>
            </a:r>
            <a:endParaRPr lang="en-US" sz="13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939800" lvl="1">
              <a:lnSpc>
                <a:spcPct val="114999"/>
              </a:lnSpc>
              <a:buClr>
                <a:srgbClr val="595959"/>
              </a:buClr>
              <a:buAutoNum type="alphaLcPeriod"/>
            </a:pPr>
            <a:r>
              <a:rPr lang="en" sz="1300" dirty="0">
                <a:solidFill>
                  <a:schemeClr val="dk1"/>
                </a:solidFill>
                <a:highlight>
                  <a:srgbClr val="FFFFFF"/>
                </a:highlight>
              </a:rPr>
              <a:t>Long running experiments - ~3.5 to 4 hours for full model training</a:t>
            </a:r>
            <a:endParaRPr lang="en-US" sz="13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114300" indent="0">
              <a:lnSpc>
                <a:spcPct val="114999"/>
              </a:lnSpc>
              <a:buClr>
                <a:schemeClr val="dk1"/>
              </a:buClr>
              <a:buNone/>
            </a:pPr>
            <a:endParaRPr lang="en" sz="1600" dirty="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>
              <a:lnSpc>
                <a:spcPct val="114999"/>
              </a:lnSpc>
              <a:buClr>
                <a:schemeClr val="dk1"/>
              </a:buClr>
              <a:buAutoNum type="arabicPeriod"/>
            </a:pPr>
            <a:r>
              <a:rPr lang="en" sz="1600" dirty="0">
                <a:solidFill>
                  <a:srgbClr val="24292E"/>
                </a:solidFill>
                <a:highlight>
                  <a:srgbClr val="FFFFFF"/>
                </a:highlight>
              </a:rPr>
              <a:t>NVIDIA GB10 (Blackwell architecture, sm_121) is</a:t>
            </a:r>
            <a:r>
              <a:rPr lang="en" sz="1600" b="1" dirty="0">
                <a:solidFill>
                  <a:srgbClr val="24292E"/>
                </a:solidFill>
                <a:highlight>
                  <a:srgbClr val="FFFFFF"/>
                </a:highlight>
              </a:rPr>
              <a:t> too new for standard </a:t>
            </a:r>
            <a:r>
              <a:rPr lang="en" sz="1600" b="1" dirty="0" err="1">
                <a:solidFill>
                  <a:srgbClr val="24292E"/>
                </a:solidFill>
                <a:highlight>
                  <a:srgbClr val="FFFFFF"/>
                </a:highlight>
              </a:rPr>
              <a:t>PyTorch</a:t>
            </a:r>
            <a:r>
              <a:rPr lang="en" sz="1600" b="1" dirty="0">
                <a:solidFill>
                  <a:srgbClr val="24292E"/>
                </a:solidFill>
                <a:highlight>
                  <a:srgbClr val="FFFFFF"/>
                </a:highlight>
              </a:rPr>
              <a:t> builds</a:t>
            </a:r>
            <a:endParaRPr lang="en" sz="1600" b="1">
              <a:solidFill>
                <a:schemeClr val="dk1"/>
              </a:solidFill>
            </a:endParaRPr>
          </a:p>
          <a:p>
            <a:pPr lvl="1">
              <a:lnSpc>
                <a:spcPct val="114999"/>
              </a:lnSpc>
              <a:buClr>
                <a:schemeClr val="dk1"/>
              </a:buClr>
              <a:buSzPts val="1800"/>
              <a:buAutoNum type="alphaLcPeriod"/>
            </a:pPr>
            <a:r>
              <a:rPr lang="en" sz="1200" b="1" dirty="0">
                <a:solidFill>
                  <a:srgbClr val="24292E"/>
                </a:solidFill>
                <a:highlight>
                  <a:srgbClr val="FFFFFF"/>
                </a:highlight>
              </a:rPr>
              <a:t>Used Nvidia </a:t>
            </a:r>
            <a:r>
              <a:rPr lang="en" sz="1200" b="1" err="1">
                <a:solidFill>
                  <a:srgbClr val="24292E"/>
                </a:solidFill>
                <a:highlight>
                  <a:srgbClr val="FFFFFF"/>
                </a:highlight>
              </a:rPr>
              <a:t>Pytorch</a:t>
            </a:r>
            <a:r>
              <a:rPr lang="en" sz="1200" b="1" dirty="0">
                <a:solidFill>
                  <a:srgbClr val="24292E"/>
                </a:solidFill>
                <a:highlight>
                  <a:srgbClr val="FFFFFF"/>
                </a:highlight>
              </a:rPr>
              <a:t> Docker containers</a:t>
            </a:r>
          </a:p>
          <a:p>
            <a:pPr>
              <a:lnSpc>
                <a:spcPct val="114999"/>
              </a:lnSpc>
              <a:buClr>
                <a:schemeClr val="dk1"/>
              </a:buClr>
              <a:buAutoNum type="arabicPeriod"/>
            </a:pPr>
            <a:endParaRPr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05C83F-5DDB-25C0-E524-E7161EF4A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964" y="0"/>
            <a:ext cx="693207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081233-E009-CFDB-69E5-25B039E23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0"/>
            <a:ext cx="7260771" cy="51435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58E24D-49F9-535F-E562-6E54353C3865}"/>
              </a:ext>
            </a:extLst>
          </p:cNvPr>
          <p:cNvSpPr/>
          <p:nvPr/>
        </p:nvSpPr>
        <p:spPr>
          <a:xfrm>
            <a:off x="4733093" y="4349537"/>
            <a:ext cx="3359959" cy="391228"/>
          </a:xfrm>
          <a:prstGeom prst="roundRect">
            <a:avLst/>
          </a:prstGeom>
          <a:solidFill>
            <a:srgbClr val="C8ED32">
              <a:alpha val="3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22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0;p26">
            <a:extLst>
              <a:ext uri="{FF2B5EF4-FFF2-40B4-BE49-F238E27FC236}">
                <a16:creationId xmlns:a16="http://schemas.microsoft.com/office/drawing/2014/main" id="{919FBC42-428C-95F3-9C2D-625C2427E443}"/>
              </a:ext>
            </a:extLst>
          </p:cNvPr>
          <p:cNvSpPr txBox="1"/>
          <p:nvPr/>
        </p:nvSpPr>
        <p:spPr>
          <a:xfrm>
            <a:off x="5475772" y="2142729"/>
            <a:ext cx="3596594" cy="142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dirty="0"/>
              <a:t>Generally, one can get </a:t>
            </a:r>
            <a:r>
              <a:rPr lang="en" b="1" dirty="0"/>
              <a:t>lower PD by trading off accuracy</a:t>
            </a:r>
            <a:endParaRPr b="1"/>
          </a:p>
          <a:p>
            <a:pPr marL="457200" indent="-317500">
              <a:lnSpc>
                <a:spcPct val="114999"/>
              </a:lnSpc>
              <a:buSzPts val="1400"/>
              <a:buAutoNum type="arabicPeriod"/>
            </a:pPr>
            <a:r>
              <a:rPr lang="en" dirty="0"/>
              <a:t>Depends on Model architecture</a:t>
            </a:r>
          </a:p>
          <a:p>
            <a:pPr marL="914400" lvl="1" indent="-317500">
              <a:lnSpc>
                <a:spcPct val="114999"/>
              </a:lnSpc>
              <a:buSzPts val="1400"/>
              <a:buFont typeface="Courier New"/>
              <a:buChar char="o"/>
            </a:pPr>
            <a:r>
              <a:rPr lang="en" dirty="0"/>
              <a:t>Swish activation function has no accuracy impact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8346D-988D-F882-8EE5-B0695682F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37" y="2141270"/>
            <a:ext cx="4997039" cy="2304557"/>
          </a:xfrm>
          <a:prstGeom prst="rect">
            <a:avLst/>
          </a:prstGeom>
        </p:spPr>
      </p:pic>
      <p:sp>
        <p:nvSpPr>
          <p:cNvPr id="7" name="Google Shape;170;p26">
            <a:extLst>
              <a:ext uri="{FF2B5EF4-FFF2-40B4-BE49-F238E27FC236}">
                <a16:creationId xmlns:a16="http://schemas.microsoft.com/office/drawing/2014/main" id="{360E5A36-5C96-A8BA-2B4D-B608E7ACCE2B}"/>
              </a:ext>
            </a:extLst>
          </p:cNvPr>
          <p:cNvSpPr txBox="1"/>
          <p:nvPr/>
        </p:nvSpPr>
        <p:spPr>
          <a:xfrm>
            <a:off x="276606" y="328030"/>
            <a:ext cx="3596594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>
              <a:lnSpc>
                <a:spcPct val="114999"/>
              </a:lnSpc>
              <a:buSzPts val="1400"/>
            </a:pPr>
            <a:r>
              <a:rPr lang="en" sz="2400" dirty="0"/>
              <a:t>Reproducibility &amp; Accuracy Tradeoff</a:t>
            </a:r>
          </a:p>
        </p:txBody>
      </p:sp>
    </p:spTree>
    <p:extLst>
      <p:ext uri="{BB962C8B-B14F-4D97-AF65-F5344CB8AC3E}">
        <p14:creationId xmlns:p14="http://schemas.microsoft.com/office/powerpoint/2010/main" val="715961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/>
          <p:nvPr/>
        </p:nvSpPr>
        <p:spPr>
          <a:xfrm>
            <a:off x="79950" y="112150"/>
            <a:ext cx="8913300" cy="4935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Conclusions</a:t>
            </a:r>
            <a:endParaRPr i="1"/>
          </a:p>
        </p:txBody>
      </p:sp>
      <p:sp>
        <p:nvSpPr>
          <p:cNvPr id="193" name="Google Shape;193;p2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7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endParaRPr lang="en-US" sz="1400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14999"/>
              </a:lnSpc>
              <a:buClr>
                <a:schemeClr val="dk1"/>
              </a:buClr>
              <a:buSzPts val="1595"/>
            </a:pPr>
            <a:r>
              <a:rPr lang="en" sz="2000" dirty="0">
                <a:solidFill>
                  <a:schemeClr val="dk1"/>
                </a:solidFill>
              </a:rPr>
              <a:t>Activation function choice matters profoundly for reproducibility in Language Models, but the magnitude of effect depends on architecture:</a:t>
            </a:r>
          </a:p>
          <a:p>
            <a:pPr lvl="1">
              <a:lnSpc>
                <a:spcPct val="114999"/>
              </a:lnSpc>
              <a:buClr>
                <a:srgbClr val="595959"/>
              </a:buClr>
              <a:buSzPts val="1595"/>
              <a:buFont typeface="Courier New,monospace"/>
              <a:buChar char="o"/>
            </a:pPr>
            <a:r>
              <a:rPr lang="en" sz="1600" dirty="0">
                <a:solidFill>
                  <a:schemeClr val="dk1"/>
                </a:solidFill>
              </a:rPr>
              <a:t>CNN models: Low impact </a:t>
            </a:r>
            <a:endParaRPr lang="en-US" sz="1600" dirty="0">
              <a:solidFill>
                <a:schemeClr val="dk1"/>
              </a:solidFill>
            </a:endParaRPr>
          </a:p>
          <a:p>
            <a:pPr lvl="1">
              <a:lnSpc>
                <a:spcPct val="114999"/>
              </a:lnSpc>
              <a:buClr>
                <a:schemeClr val="dk1"/>
              </a:buClr>
              <a:buSzPts val="1595"/>
              <a:buFont typeface="Courier New"/>
              <a:buChar char="o"/>
            </a:pPr>
            <a:r>
              <a:rPr lang="en" sz="1600" dirty="0">
                <a:solidFill>
                  <a:schemeClr val="dk1"/>
                </a:solidFill>
              </a:rPr>
              <a:t>Hybrid models: Moderate impact </a:t>
            </a:r>
            <a:endParaRPr lang="en" dirty="0">
              <a:solidFill>
                <a:schemeClr val="dk1"/>
              </a:solidFill>
            </a:endParaRPr>
          </a:p>
          <a:p>
            <a:pPr lvl="1">
              <a:lnSpc>
                <a:spcPct val="114999"/>
              </a:lnSpc>
              <a:buClr>
                <a:schemeClr val="dk1"/>
              </a:buClr>
              <a:buSzPts val="1595"/>
              <a:buFont typeface="Courier New"/>
              <a:buChar char="o"/>
            </a:pPr>
            <a:r>
              <a:rPr lang="en" sz="1600" dirty="0">
                <a:solidFill>
                  <a:schemeClr val="dk1"/>
                </a:solidFill>
              </a:rPr>
              <a:t>Transformer models: High impact </a:t>
            </a:r>
            <a:endParaRPr sz="1600" dirty="0">
              <a:solidFill>
                <a:schemeClr val="dk1"/>
              </a:solidFill>
            </a:endParaRPr>
          </a:p>
          <a:p>
            <a:pPr>
              <a:lnSpc>
                <a:spcPct val="114999"/>
              </a:lnSpc>
              <a:buClr>
                <a:schemeClr val="dk1"/>
              </a:buClr>
              <a:buSzPts val="1595"/>
            </a:pPr>
            <a:endParaRPr sz="2400" dirty="0"/>
          </a:p>
          <a:p>
            <a:pPr marL="413385" indent="-285750">
              <a:lnSpc>
                <a:spcPct val="114999"/>
              </a:lnSpc>
              <a:spcBef>
                <a:spcPts val="1200"/>
              </a:spcBef>
              <a:buClr>
                <a:schemeClr val="dk1"/>
              </a:buClr>
              <a:buSzPts val="1595"/>
            </a:pPr>
            <a:r>
              <a:rPr lang="en" sz="2000" dirty="0">
                <a:solidFill>
                  <a:schemeClr val="dk1"/>
                </a:solidFill>
              </a:rPr>
              <a:t>Swish or GELU are most stable activation functions to make models more reproducible</a:t>
            </a:r>
            <a:endParaRPr sz="2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3D4A-455A-037C-A5E6-17A80CE36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BF907-2D39-92A8-EF4A-87BA83DBF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388217" cy="34164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4999"/>
              </a:lnSpc>
            </a:pPr>
            <a:r>
              <a:rPr lang="en-US" dirty="0"/>
              <a:t>Conduct experiments for Large Language Models</a:t>
            </a:r>
            <a:endParaRPr lang="en-US"/>
          </a:p>
          <a:p>
            <a:pPr lvl="1">
              <a:lnSpc>
                <a:spcPct val="114999"/>
              </a:lnSpc>
              <a:buSzPts val="1800"/>
            </a:pPr>
            <a:r>
              <a:rPr lang="en-US" dirty="0"/>
              <a:t>GPT-2 small (117M parameters)</a:t>
            </a:r>
          </a:p>
          <a:p>
            <a:pPr lvl="2">
              <a:lnSpc>
                <a:spcPct val="114999"/>
              </a:lnSpc>
              <a:buSzPts val="1800"/>
            </a:pPr>
            <a:r>
              <a:rPr lang="en-US" dirty="0"/>
              <a:t>Would Swish's  dominance holds at 10x scale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Llama-2 (160)</a:t>
            </a:r>
            <a:endParaRPr lang="en-US" dirty="0">
              <a:solidFill>
                <a:srgbClr val="000000"/>
              </a:solidFill>
            </a:endParaRPr>
          </a:p>
          <a:p>
            <a:pPr lvl="2">
              <a:lnSpc>
                <a:spcPct val="114999"/>
              </a:lnSpc>
            </a:pPr>
            <a:r>
              <a:rPr lang="en-US" dirty="0"/>
              <a:t>Uses </a:t>
            </a:r>
            <a:r>
              <a:rPr lang="en-US" dirty="0" err="1"/>
              <a:t>SwiGLU</a:t>
            </a:r>
            <a:r>
              <a:rPr lang="en-US" dirty="0"/>
              <a:t> default, does our findings align?</a:t>
            </a:r>
            <a:endParaRPr lang="en-US">
              <a:solidFill>
                <a:srgbClr val="000000"/>
              </a:solidFill>
            </a:endParaRPr>
          </a:p>
          <a:p>
            <a:pPr lvl="1">
              <a:lnSpc>
                <a:spcPct val="114999"/>
              </a:lnSpc>
            </a:pPr>
            <a:r>
              <a:rPr lang="en-US" dirty="0"/>
              <a:t>BERT-Base (160)</a:t>
            </a:r>
          </a:p>
          <a:p>
            <a:pPr lvl="2">
              <a:lnSpc>
                <a:spcPct val="114999"/>
              </a:lnSpc>
            </a:pPr>
            <a:r>
              <a:rPr lang="en-US" dirty="0"/>
              <a:t>Encoder only architecture</a:t>
            </a:r>
          </a:p>
          <a:p>
            <a:pPr marL="1054100" lvl="2" indent="0">
              <a:lnSpc>
                <a:spcPct val="114999"/>
              </a:lnSpc>
              <a:buNone/>
            </a:pPr>
            <a:endParaRPr lang="en-US" dirty="0"/>
          </a:p>
          <a:p>
            <a:pPr lvl="2">
              <a:lnSpc>
                <a:spcPct val="114999"/>
              </a:lnSpc>
            </a:pPr>
            <a:endParaRPr lang="en-US" dirty="0"/>
          </a:p>
          <a:p>
            <a:pPr>
              <a:lnSpc>
                <a:spcPct val="114999"/>
              </a:lnSpc>
            </a:pPr>
            <a:r>
              <a:rPr lang="en-US" dirty="0"/>
              <a:t>Cover More Activation functions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Mish</a:t>
            </a:r>
            <a:endParaRPr lang="en-US" dirty="0">
              <a:solidFill>
                <a:srgbClr val="000000"/>
              </a:solidFill>
            </a:endParaRPr>
          </a:p>
          <a:p>
            <a:pPr lvl="2">
              <a:lnSpc>
                <a:spcPct val="114999"/>
              </a:lnSpc>
            </a:pPr>
            <a:r>
              <a:rPr lang="en-US" dirty="0"/>
              <a:t>Outperforms Swish in some vision tasks</a:t>
            </a:r>
            <a:endParaRPr lang="en-US">
              <a:solidFill>
                <a:srgbClr val="000000"/>
              </a:solidFill>
            </a:endParaRPr>
          </a:p>
          <a:p>
            <a:pPr lvl="1">
              <a:lnSpc>
                <a:spcPct val="114999"/>
              </a:lnSpc>
            </a:pPr>
            <a:r>
              <a:rPr lang="en-US" dirty="0"/>
              <a:t>Swish B</a:t>
            </a:r>
          </a:p>
          <a:p>
            <a:pPr lvl="2">
              <a:lnSpc>
                <a:spcPct val="114999"/>
              </a:lnSpc>
            </a:pPr>
            <a:r>
              <a:rPr lang="en-US" dirty="0"/>
              <a:t>Default Swish uses B=1, it can be learned</a:t>
            </a:r>
          </a:p>
          <a:p>
            <a:pPr>
              <a:lnSpc>
                <a:spcPct val="114999"/>
              </a:lnSpc>
            </a:pP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4BC02D5-5627-C7F0-97CD-B8D76EEAA988}"/>
              </a:ext>
            </a:extLst>
          </p:cNvPr>
          <p:cNvSpPr txBox="1">
            <a:spLocks/>
          </p:cNvSpPr>
          <p:nvPr/>
        </p:nvSpPr>
        <p:spPr>
          <a:xfrm>
            <a:off x="4691734" y="1019125"/>
            <a:ext cx="4681294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>
              <a:lnSpc>
                <a:spcPct val="114999"/>
              </a:lnSpc>
            </a:pPr>
            <a:endParaRPr lang="en-US" dirty="0"/>
          </a:p>
          <a:p>
            <a:pPr>
              <a:lnSpc>
                <a:spcPct val="114999"/>
              </a:lnSpc>
            </a:pPr>
            <a:r>
              <a:rPr lang="en-US" dirty="0"/>
              <a:t>Depth vs Width Study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 dirty="0"/>
              <a:t>Is Activation sensitivity driven by Parameter count or architectural depth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 dirty="0"/>
              <a:t>Fix Parameter count:</a:t>
            </a:r>
            <a:endParaRPr lang="en-US" dirty="0">
              <a:solidFill>
                <a:srgbClr val="000000"/>
              </a:solidFill>
            </a:endParaRPr>
          </a:p>
          <a:p>
            <a:pPr lvl="2">
              <a:lnSpc>
                <a:spcPct val="114999"/>
              </a:lnSpc>
              <a:buSzPts val="1800"/>
            </a:pPr>
            <a:r>
              <a:rPr lang="en-US" dirty="0"/>
              <a:t>Vary number of layers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lnSpc>
                <a:spcPct val="114999"/>
              </a:lnSpc>
              <a:buSzPts val="1800"/>
            </a:pPr>
            <a:r>
              <a:rPr lang="en-US" dirty="0"/>
              <a:t>Add support in Framework</a:t>
            </a:r>
          </a:p>
          <a:p>
            <a:pPr lvl="2">
              <a:lnSpc>
                <a:spcPct val="114999"/>
              </a:lnSpc>
              <a:buSzPts val="1800"/>
            </a:pPr>
            <a:r>
              <a:rPr lang="en-US" dirty="0"/>
              <a:t>To evaluate this seamlessly</a:t>
            </a:r>
          </a:p>
          <a:p>
            <a:pPr marL="1054100" lvl="2" indent="0">
              <a:lnSpc>
                <a:spcPct val="114999"/>
              </a:lnSpc>
              <a:buSzPts val="1800"/>
              <a:buNone/>
            </a:pPr>
            <a:endParaRPr lang="en-US" dirty="0"/>
          </a:p>
          <a:p>
            <a:pPr lvl="2">
              <a:lnSpc>
                <a:spcPct val="114999"/>
              </a:lnSpc>
              <a:buSzPts val="1800"/>
            </a:pPr>
            <a:endParaRPr lang="en-US" dirty="0"/>
          </a:p>
          <a:p>
            <a:pPr lvl="2">
              <a:lnSpc>
                <a:spcPct val="114999"/>
              </a:lnSpc>
              <a:buSzPts val="18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629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/>
          <p:nvPr/>
        </p:nvSpPr>
        <p:spPr>
          <a:xfrm>
            <a:off x="79950" y="112150"/>
            <a:ext cx="8913300" cy="4935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12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Simple Light</vt:lpstr>
      <vt:lpstr> Activation Functions And Reproducibility of Language Models</vt:lpstr>
      <vt:lpstr>Executive Summary</vt:lpstr>
      <vt:lpstr>Problem Motivation</vt:lpstr>
      <vt:lpstr>Past Work</vt:lpstr>
      <vt:lpstr>Experimental Setup</vt:lpstr>
      <vt:lpstr>SmeLU, A Smooth ReLU</vt:lpstr>
      <vt:lpstr>Measuring Reproducibility: Relative Prediction Difference</vt:lpstr>
      <vt:lpstr>Methodology - Overview</vt:lpstr>
      <vt:lpstr>Relative PD Framework </vt:lpstr>
      <vt:lpstr>Model Architectures</vt:lpstr>
      <vt:lpstr>Challenges</vt:lpstr>
      <vt:lpstr>PowerPoint Presentation</vt:lpstr>
      <vt:lpstr>PowerPoint Presentation</vt:lpstr>
      <vt:lpstr>PowerPoint Presentation</vt:lpstr>
      <vt:lpstr>Conclusions</vt:lpstr>
      <vt:lpstr>Future Work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385</cp:revision>
  <dcterms:modified xsi:type="dcterms:W3CDTF">2025-12-12T19:36:51Z</dcterms:modified>
</cp:coreProperties>
</file>